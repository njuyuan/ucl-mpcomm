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核心判断：推理的瓶颈正在从 GPU 算力转向 KV cache 的存储与搬运，网络从“请求入口”变成推理系统内部的“内存总线”。</a:t>
            </a:r>
          </a:p>
          <a:p/>
          <a:p>
            <a:r>
              <a:t>最显著的变化</a:t>
            </a:r>
          </a:p>
          <a:p>
            <a:r>
              <a:t>- 推理型模型（test-time compute）：单个请求输出几千到几万 token，decode 时间长，KV cache 持续膨胀。</a:t>
            </a:r>
          </a:p>
          <a:p>
            <a:r>
              <a:t>- 长上下文成为默认：128K 到百万级上下文，单请求 KV cache 可达 GB 级，HBM 放不下。</a:t>
            </a:r>
          </a:p>
          <a:p>
            <a:r>
              <a:t>- Prefill / Decode 分离：两阶段放在不同 GPU 池，KV cache 必须跨机传递。</a:t>
            </a:r>
          </a:p>
          <a:p>
            <a:r>
              <a:t>- 大规模 MoE + 宽专家并行：专家分散到几十到上百张卡，每层都要 dispatch / combine。</a:t>
            </a:r>
          </a:p>
          <a:p>
            <a:r>
              <a:t>- KV cache 池化：HBM → DRAM → SSD → 远端内存池多级存放，前缀命中后再取回。</a:t>
            </a:r>
          </a:p>
          <a:p/>
          <a:p>
            <a:r>
              <a:t>流量特征</a:t>
            </a:r>
          </a:p>
          <a:p>
            <a:r>
              <a:t>- PD 之间：大块、突发的 KV cache 迁移，时延直接计入 TTFT。</a:t>
            </a:r>
          </a:p>
          <a:p>
            <a:r>
              <a:t>- 专家并行：每层两次 all-to-all，消息小、频率高，尾时延决定 TPOT。</a:t>
            </a:r>
          </a:p>
          <a:p>
            <a:r>
              <a:t>- KV 池：DRAM / HBM 之间高带宽读写，按 block 索引的离散读取。</a:t>
            </a:r>
          </a:p>
          <a:p/>
          <a:p>
            <a:r>
              <a:t>对网络的诉求</a:t>
            </a:r>
          </a:p>
          <a:p>
            <a:r>
              <a:t>1. 内存级带宽：单机多网卡聚合，逼近 PCIe / NIC 物理上限；HBM↔DRAM↔远端 DRAM 全程零拷贝。</a:t>
            </a:r>
          </a:p>
          <a:p>
            <a:r>
              <a:t>2. 微秒级尾时延：GPU 直接发起通信、少 CPU 介入，拥塞时 P99 可控。</a:t>
            </a:r>
          </a:p>
          <a:p>
            <a:r>
              <a:t>3. 拓扑感知：GPU、NIC、NUMA、NVLink 亲和关系进入调度；不在同一 PCIe 的网卡可借道 NVLink。</a:t>
            </a:r>
          </a:p>
          <a:p>
            <a:r>
              <a:t>4. 离散访问高效：scatter / gather 原语，大量小 block 一次性批量搬运。</a:t>
            </a:r>
          </a:p>
          <a:p>
            <a:r>
              <a:t>5. SLO 隔离：KV 迁移、专家通信、存储回写共享网卡时，时延敏感流量优先。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核心判断：训练算力增量越来越多投向强化学习后训练，训练集群里混入了推理负载，流量从规整的集合通信变成“集合通信 + 权重同步 + 样本流转”的混合形态。</a:t>
            </a:r>
          </a:p>
          <a:p/>
          <a:p>
            <a:r>
              <a:t>最显著的变化</a:t>
            </a:r>
          </a:p>
          <a:p>
            <a:r>
              <a:t>- RL 后训练规模化：rollout 往往占据大部分时间，训练与推理在同一任务里交替。</a:t>
            </a:r>
          </a:p>
          <a:p>
            <a:r>
              <a:t>- 训推共置 / 异步 RL：每轮训练后把新权重下发到 rollout 集群，副本可能多达数百个。</a:t>
            </a:r>
          </a:p>
          <a:p>
            <a:r>
              <a:t>- MoE 成为主流：训练中也有 all-to-all，随专家数和并行度增长。</a:t>
            </a:r>
          </a:p>
          <a:p>
            <a:r>
              <a:t>- Scale-up 域扩大：超节点把 NVLink 类互联扩展到数十到上百卡，scale-up 与 scale-out 分层。</a:t>
            </a:r>
          </a:p>
          <a:p>
            <a:r>
              <a:t>- 更低精度（FP8 / FP4）：计算变快而通信量下降有限，通信占比被动升高。</a:t>
            </a:r>
          </a:p>
          <a:p>
            <a:r>
              <a:t>- 跨数据中心训练：单园区电力受限，训练开始跨楼、跨园区甚至跨地域。</a:t>
            </a:r>
          </a:p>
          <a:p/>
          <a:p>
            <a:r>
              <a:t>流量特征</a:t>
            </a:r>
          </a:p>
          <a:p>
            <a:r>
              <a:t>- 权重同步：训练侧到 rollout 侧的一对多大块广播，频繁、周期性，影响 GPU 空闲时间。</a:t>
            </a:r>
          </a:p>
          <a:p>
            <a:r>
              <a:t>- 样本流转：轨迹、logits、专家路由信息回流训练侧，数据量大且有时效性。</a:t>
            </a:r>
          </a:p>
          <a:p>
            <a:r>
              <a:t>- 集合通信：all-reduce / all-gather / all-to-all 仍是主体，但与上述流量共享一张网。</a:t>
            </a:r>
          </a:p>
          <a:p>
            <a:r>
              <a:t>- 跨域链路：带宽比集群内低一个量级以上，时延从微秒变成毫秒。</a:t>
            </a:r>
          </a:p>
          <a:p/>
          <a:p>
            <a:r>
              <a:t>对网络的诉求</a:t>
            </a:r>
          </a:p>
          <a:p>
            <a:r>
              <a:t>1. 高效一对多：权重广播流水线化、多轨并行，避免所有副本同时从同一源拉取。</a:t>
            </a:r>
          </a:p>
          <a:p>
            <a:r>
              <a:t>2. 训推一体的内存池：权重、样本、路由数据放入共享 DRAM / HBM 池，按需读写。</a:t>
            </a:r>
          </a:p>
          <a:p>
            <a:r>
              <a:t>3. Scale-up 与 scale-out 协同：节点内走 NVLink，节点间多网卡负载均衡。</a:t>
            </a:r>
          </a:p>
          <a:p>
            <a:r>
              <a:t>4. 万卡级可靠性：链路、网卡故障秒级隔离与自动恢复，任务不整体重启。</a:t>
            </a:r>
          </a:p>
          <a:p>
            <a:r>
              <a:t>5. 跨域友好：长距离拥塞控制、流量压缩、计算与通信重叠。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核心判断：Agent 把一次调用变成持续几十分钟到数小时的会话，上下文需要长期保存和反复复用，负载从“吞吐型”转向“状态型 + 交互型”。</a:t>
            </a:r>
          </a:p>
          <a:p/>
          <a:p>
            <a:r>
              <a:t>最显著的变化</a:t>
            </a:r>
          </a:p>
          <a:p>
            <a:r>
              <a:t>- 多轮、长程任务：一个任务包含几十到上百轮模型调用，上下文持续累积。</a:t>
            </a:r>
          </a:p>
          <a:p>
            <a:r>
              <a:t>- 工具调用与环境交互：推理与代码执行、检索、浏览器、沙箱交替，GPU 需在等待期间换出会话。</a:t>
            </a:r>
          </a:p>
          <a:p>
            <a:r>
              <a:t>- 多智能体协作：规划、执行、校验等角色并行，彼此传递上下文和中间结果。</a:t>
            </a:r>
          </a:p>
          <a:p>
            <a:r>
              <a:t>- 记忆分层：短期上下文（KV cache）、会话记忆、长期知识库并存。</a:t>
            </a:r>
          </a:p>
          <a:p>
            <a:r>
              <a:t>- 并发会话数激增：单用户可同时运行多个 Agent，后台任务不受人类交互速度约束。</a:t>
            </a:r>
          </a:p>
          <a:p/>
          <a:p>
            <a:r>
              <a:t>流量特征</a:t>
            </a:r>
          </a:p>
          <a:p>
            <a:r>
              <a:t>- 会话级 KV 复用：每轮只追加少量 token，历史前缀反复命中；暂停时换出，恢复时快速取回。</a:t>
            </a:r>
          </a:p>
          <a:p>
            <a:r>
              <a:t>- 换入换出频繁：工具调用期间释放 HBM，返回后重新加载，大量中等块双向搬运。</a:t>
            </a:r>
          </a:p>
          <a:p>
            <a:r>
              <a:t>- 东西向流量增加：Agent 之间、Agent 与工具服务之间大量小消息和 RPC，突发、不规则。</a:t>
            </a:r>
          </a:p>
          <a:p>
            <a:r>
              <a:t>- 粘性与迁移并存：会话倾向留在原节点复用缓存，负载均衡又要求能迁移。</a:t>
            </a:r>
          </a:p>
          <a:p/>
          <a:p>
            <a:r>
              <a:t>对网络的诉求</a:t>
            </a:r>
          </a:p>
          <a:p>
            <a:r>
              <a:t>1. 分布式 KV 内存池：跨节点共享的 KV cache 存储，按前缀索引定位，命中后直接 RDMA 读取。</a:t>
            </a:r>
          </a:p>
          <a:p>
            <a:r>
              <a:t>2. 快速换入换出：HBM 与 DRAM、远端内存之间高带宽搬运，恢复时间远小于重算。</a:t>
            </a:r>
          </a:p>
          <a:p>
            <a:r>
              <a:t>3. 会话可迁移：上下文低成本跨节点搬移，调度不被缓存位置“绑死”。</a:t>
            </a:r>
          </a:p>
          <a:p>
            <a:r>
              <a:t>4. 混合流量 QoS：区分交互时延敏感流量、后台批量搬运和存储流量。</a:t>
            </a:r>
          </a:p>
          <a:p>
            <a:r>
              <a:t>5. 规模化连接管理：大量并发会话的连接建立、元数据交换要轻量，避免控制面成为瓶颈。</a:t>
            </a:r>
          </a:p>
          <a:p/>
          <a:p>
            <a:r>
              <a:t>共同结论：推理、训练、Agent 都在把“状态”（KV cache、权重、样本、会话上下文）推到网络上。网络关键指标从单纯的集合通信带宽，扩展为内存池级带宽、尾时延、拓扑感知和多类流量隔离。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推理：从“算一次”到“存得住、调得动”的状态化服务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57432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45720" tIns="27432" bIns="27432" wrap="square"/>
          <a:lstStyle/>
          <a:p>
            <a:pPr algn="ctr"/>
            <a:r>
              <a:rPr sz="13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核心判断：</a:t>
            </a:r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推理瓶颈从 GPU 算力转向 KV cache 的存储与搬运，网络从“请求入口”变成推理系统内部的“内存总线”。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9611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5760720" cy="4681728"/>
          </a:xfrm>
          <a:prstGeom prst="rect">
            <a:avLst/>
          </a:prstGeom>
          <a:solidFill>
            <a:srgbClr val="F4F6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664208"/>
            <a:ext cx="73152" cy="23774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27632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最显著的变化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56816"/>
            <a:ext cx="5468112" cy="1453895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推理型模型：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单请求输出数千至数万 token，KV 持续膨胀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长上下文成为默认：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128K 到百万级，单请求 KV 达 GB 级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PD 分离：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prefill / decode 分池部署，KV 必须跨机迁移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大规模 MoE + 宽专家并行：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每层都要 dispatch / combine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KV cache 池化：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HBM → DRAM → SSD → 远端内存池多级存放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447288"/>
            <a:ext cx="73152" cy="23774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10712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流量特征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739896"/>
            <a:ext cx="5468112" cy="81381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PD 之间：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大块突发 KV 迁移，时延直接计入 TTFT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专家并行：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高频小消息 all-to-all，尾时延决定 TPOT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KV 池：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高带宽、按 block 索引的离散读写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4590288"/>
            <a:ext cx="73152" cy="237744"/>
          </a:xfrm>
          <a:prstGeom prst="rect">
            <a:avLst/>
          </a:prstGeom>
          <a:solidFill>
            <a:srgbClr val="3D8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53712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对网络的诉求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882896"/>
            <a:ext cx="5468112" cy="1426464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内存级带宽：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多网卡聚合逼近物理上限，全路径零拷贝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微秒级尾时延：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 直发通信、少 CPU 介入，P99 可控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拓扑感知：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 / NIC / NUMA / NVLink 亲和进入调度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离散访问高效：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scatter / gather 批量搬运大量小 block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SLO 隔离：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共享网卡时时延敏感流量优先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大模型发展趋势与网络诉求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94183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示意图：PD 分离 + 专家并行 + KV cache 多级池化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057400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0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用户请求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2057400"/>
            <a:ext cx="2194560" cy="41148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全局调度 / 路由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65960" y="2263140"/>
            <a:ext cx="54864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2788920"/>
            <a:ext cx="22402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834640"/>
            <a:ext cx="22402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Prefill 池（算力密集）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246120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81328" y="3246120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65376" y="3246120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9424" y="3246120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3630168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81328" y="3630168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65376" y="3630168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9424" y="3630168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2788920"/>
            <a:ext cx="22402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2834640"/>
            <a:ext cx="22402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Decode 池（带宽密集）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246120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8848" y="3246120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82896" y="3246120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66944" y="3246120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3630168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8848" y="3630168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82896" y="3630168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66944" y="3630168"/>
            <a:ext cx="274320" cy="274320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1805940" y="2468880"/>
            <a:ext cx="1485900" cy="320040"/>
          </a:xfrm>
          <a:prstGeom prst="line">
            <a:avLst/>
          </a:prstGeom>
          <a:ln w="158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931920" y="2468880"/>
            <a:ext cx="891540" cy="320040"/>
          </a:xfrm>
          <a:prstGeom prst="line">
            <a:avLst/>
          </a:prstGeom>
          <a:ln w="158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26080" y="3611880"/>
            <a:ext cx="777240" cy="0"/>
          </a:xfrm>
          <a:prstGeom prst="line">
            <a:avLst/>
          </a:prstGeom>
          <a:ln w="5080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852928" y="3154680"/>
            <a:ext cx="91440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5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KV 迁移</a:t>
            </a:r>
          </a:p>
          <a:p>
            <a:pPr algn="ctr"/>
            <a:r>
              <a:rPr sz="85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RDMA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2928" y="3675887"/>
            <a:ext cx="9144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计入 TTFT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" y="4297680"/>
            <a:ext cx="22402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325112"/>
            <a:ext cx="214884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推理链 / 长上下文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0120" y="5138928"/>
            <a:ext cx="228600" cy="164592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4956048"/>
            <a:ext cx="36576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MB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4956048"/>
            <a:ext cx="228600" cy="347472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00200" y="4754880"/>
            <a:ext cx="2286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36192" y="4572000"/>
            <a:ext cx="365760" cy="16459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4617720"/>
            <a:ext cx="1005840" cy="6858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单请求 KV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持续膨胀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HBM 放不下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03320" y="4297680"/>
            <a:ext cx="22402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030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49039" y="4325112"/>
            <a:ext cx="2148840" cy="256032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宽专家并行 all-to-all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069080" y="4663440"/>
            <a:ext cx="594360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069080" y="4663440"/>
            <a:ext cx="0" cy="41148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069080" y="4663440"/>
            <a:ext cx="594360" cy="41148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4069080" y="4663440"/>
            <a:ext cx="594360" cy="41148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663440" y="4663440"/>
            <a:ext cx="0" cy="41148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069080" y="5074920"/>
            <a:ext cx="594360" cy="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913632" y="4507992"/>
            <a:ext cx="310896" cy="310896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E1</a:t>
            </a:r>
          </a:p>
        </p:txBody>
      </p:sp>
      <p:sp>
        <p:nvSpPr>
          <p:cNvPr id="64" name="Oval 63"/>
          <p:cNvSpPr/>
          <p:nvPr/>
        </p:nvSpPr>
        <p:spPr>
          <a:xfrm>
            <a:off x="4507992" y="4507992"/>
            <a:ext cx="310896" cy="310896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E2</a:t>
            </a:r>
          </a:p>
        </p:txBody>
      </p:sp>
      <p:sp>
        <p:nvSpPr>
          <p:cNvPr id="65" name="Oval 64"/>
          <p:cNvSpPr/>
          <p:nvPr/>
        </p:nvSpPr>
        <p:spPr>
          <a:xfrm>
            <a:off x="3913632" y="4919472"/>
            <a:ext cx="310896" cy="310896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E3</a:t>
            </a:r>
          </a:p>
        </p:txBody>
      </p:sp>
      <p:sp>
        <p:nvSpPr>
          <p:cNvPr id="66" name="Oval 65"/>
          <p:cNvSpPr/>
          <p:nvPr/>
        </p:nvSpPr>
        <p:spPr>
          <a:xfrm>
            <a:off x="4507992" y="4919472"/>
            <a:ext cx="310896" cy="310896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27432" bIns="27432" wrap="none"/>
          <a:lstStyle/>
          <a:p>
            <a:pPr algn="ctr"/>
            <a:r>
              <a:rPr sz="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0" y="4617720"/>
            <a:ext cx="1005840" cy="6858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每层两次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小消息高频</a:t>
            </a:r>
          </a:p>
          <a:p>
            <a:pPr algn="l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尾时延→TPOT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5486400"/>
            <a:ext cx="52578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KV cache 多级池化（前缀命中后取回，按 block 离散读写）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" y="5742432"/>
            <a:ext cx="1060704" cy="411480"/>
          </a:xfrm>
          <a:prstGeom prst="roundRect">
            <a:avLst>
              <a:gd name="adj" fmla="val 12000"/>
            </a:avLst>
          </a:prstGeom>
          <a:solidFill>
            <a:srgbClr val="9DC3E6"/>
          </a:solidFill>
          <a:ln w="15875">
            <a:solidFill>
              <a:srgbClr val="3D8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HBM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084831" y="5742432"/>
            <a:ext cx="1060704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D8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本地 DRAM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773935" y="5948172"/>
            <a:ext cx="283465" cy="0"/>
          </a:xfrm>
          <a:prstGeom prst="line">
            <a:avLst/>
          </a:prstGeom>
          <a:ln w="22225">
            <a:solidFill>
              <a:srgbClr val="3D8B3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483863" y="5742432"/>
            <a:ext cx="1060704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D8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SSD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172967" y="5948172"/>
            <a:ext cx="283465" cy="0"/>
          </a:xfrm>
          <a:prstGeom prst="line">
            <a:avLst/>
          </a:prstGeom>
          <a:ln w="22225">
            <a:solidFill>
              <a:srgbClr val="3D8B3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4882896" y="5742432"/>
            <a:ext cx="1060704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D8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远端内存池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572000" y="5948172"/>
            <a:ext cx="283464" cy="0"/>
          </a:xfrm>
          <a:prstGeom prst="line">
            <a:avLst/>
          </a:prstGeom>
          <a:ln w="22225">
            <a:solidFill>
              <a:srgbClr val="3D8B3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训练：从“预训练单一范式”到“预训练 + 大规模强化学习”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57432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45720" tIns="27432" bIns="27432" wrap="square"/>
          <a:lstStyle/>
          <a:p>
            <a:pPr algn="ctr"/>
            <a:r>
              <a:rPr sz="13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核心判断：</a:t>
            </a:r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算力增量投向 RL 后训练，集群混入推理负载，流量变成“集合通信 + 权重同步 + 样本流转”的混合形态。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9611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5760720" cy="4681728"/>
          </a:xfrm>
          <a:prstGeom prst="rect">
            <a:avLst/>
          </a:prstGeom>
          <a:solidFill>
            <a:srgbClr val="F4F6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664208"/>
            <a:ext cx="73152" cy="23774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27632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最显著的变化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56816"/>
            <a:ext cx="5468112" cy="1664208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RL 后训练规模化：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rollout 占大部分时间，训推交替运行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训推共置 / 异步 RL：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每轮后向数百副本下发新权重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MoE 成为主流：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训练中 all-to-all 随专家数增长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Scale-up 域扩大：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超节点数十到上百卡，两层互联分层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更低精度 FP8 / FP4：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计算变快，通信占比被动升高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跨数据中心训练：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单园区电力受限，跨楼、跨园区、跨地域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657600"/>
            <a:ext cx="73152" cy="23774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621024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流量特征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950208"/>
            <a:ext cx="5468112" cy="76809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权重同步：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一对多大块广播，周期性，影响 GPU 空闲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样本流转：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轨迹 / logits / 路由回流，量大且有时效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跨域链路：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带宽低一个量级以上，时延毫秒级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4754880"/>
            <a:ext cx="73152" cy="237744"/>
          </a:xfrm>
          <a:prstGeom prst="rect">
            <a:avLst/>
          </a:prstGeom>
          <a:solidFill>
            <a:srgbClr val="3D8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718304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对网络的诉求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047488"/>
            <a:ext cx="5468112" cy="1261872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高效一对多：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权重广播流水线化、多轨并行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训推一体内存池：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权重、样本、路由数据共享池按需读写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两层协同：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节点内走 NVLink，节点间多网卡均衡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万卡级可靠性：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故障秒级隔离与自动恢复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跨域友好：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长距拥塞控制、压缩、计算通信重叠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大模型发展趋势与网络诉求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941832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2 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示意图：RL 后训练循环（训推共置）与跨域训练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057400"/>
            <a:ext cx="22402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103120"/>
            <a:ext cx="22402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0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训练集群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423160"/>
            <a:ext cx="1874519" cy="8686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2700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432304"/>
            <a:ext cx="1874519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超节点 scale-up 域（NVLink）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2670048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53312" y="2670048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82496" y="2670048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0" y="2670048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40864" y="2670048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128" y="2999232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53312" y="2999232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82496" y="2999232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11680" y="2999232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40864" y="2999232"/>
            <a:ext cx="237744" cy="237744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337560"/>
            <a:ext cx="2148840" cy="5029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all-reduce / all-gather</a:t>
            </a:r>
          </a:p>
          <a:p>
            <a:pPr algn="ctr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MoE all-to-all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2057400"/>
            <a:ext cx="22402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103120"/>
            <a:ext cx="224028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1000" b="1">
                <a:solidFill>
                  <a:srgbClr val="1A9E9E"/>
                </a:solidFill>
                <a:latin typeface="Microsoft YaHei"/>
                <a:ea typeface="Microsoft YaHei"/>
                <a:cs typeface="Microsoft YaHei"/>
              </a:rPr>
              <a:t>Rollout 集群（推理副本 ×N）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248716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8" y="248716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82896" y="248716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8383" y="248716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289864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07408" y="289864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82896" y="289864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58383" y="289864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331012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331012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82896" y="331012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58383" y="3310128"/>
            <a:ext cx="38404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1A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6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副本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3675887"/>
            <a:ext cx="214884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生成样本，常占大部分时间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926080" y="2560320"/>
            <a:ext cx="777240" cy="0"/>
          </a:xfrm>
          <a:prstGeom prst="line">
            <a:avLst/>
          </a:prstGeom>
          <a:ln w="444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852928" y="2130552"/>
            <a:ext cx="91440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① 权重同步</a:t>
            </a:r>
          </a:p>
          <a:p>
            <a:pPr algn="ctr"/>
            <a:r>
              <a:rPr sz="75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一对多广播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2926080" y="3429000"/>
            <a:ext cx="777240" cy="0"/>
          </a:xfrm>
          <a:prstGeom prst="line">
            <a:avLst/>
          </a:prstGeom>
          <a:ln w="44450">
            <a:solidFill>
              <a:srgbClr val="3D8B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852928" y="3493008"/>
            <a:ext cx="914400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② 轨迹 / logits</a:t>
            </a:r>
          </a:p>
          <a:p>
            <a:pPr algn="ctr"/>
            <a:r>
              <a:rPr sz="75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/ 专家路由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4160520"/>
            <a:ext cx="52578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D8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共享 DRAM / HBM 内存池：权重 · 样本 · 路由数据按需读写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1805940" y="3886200"/>
            <a:ext cx="0" cy="274320"/>
          </a:xfrm>
          <a:prstGeom prst="line">
            <a:avLst/>
          </a:prstGeom>
          <a:ln w="19050">
            <a:solidFill>
              <a:srgbClr val="3D8B3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23460" y="3886200"/>
            <a:ext cx="0" cy="274320"/>
          </a:xfrm>
          <a:prstGeom prst="line">
            <a:avLst/>
          </a:prstGeom>
          <a:ln w="19050">
            <a:solidFill>
              <a:srgbClr val="3D8B3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85800" y="4846320"/>
            <a:ext cx="52578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跨数据中心训练（单园区电力受限）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" y="516636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193792"/>
            <a:ext cx="13716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5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园区 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5840" y="5468112"/>
            <a:ext cx="201168" cy="201168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71016" y="5468112"/>
            <a:ext cx="201168" cy="201168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536192" y="5468112"/>
            <a:ext cx="201168" cy="201168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01368" y="5468112"/>
            <a:ext cx="201168" cy="201168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733288"/>
            <a:ext cx="13716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集群内：微秒级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34840" y="516636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34840" y="5193792"/>
            <a:ext cx="13716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5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园区 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5468112"/>
            <a:ext cx="201168" cy="201168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82896" y="5468112"/>
            <a:ext cx="201168" cy="201168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148072" y="5468112"/>
            <a:ext cx="201168" cy="201168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13248" y="5468112"/>
            <a:ext cx="201168" cy="201168"/>
          </a:xfrm>
          <a:prstGeom prst="rect">
            <a:avLst/>
          </a:prstGeom>
          <a:solidFill>
            <a:srgbClr val="9DC3E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34840" y="5733288"/>
            <a:ext cx="13716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集群内：微秒级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194560" y="5596128"/>
            <a:ext cx="2240280" cy="0"/>
          </a:xfrm>
          <a:prstGeom prst="line">
            <a:avLst/>
          </a:prstGeom>
          <a:ln w="28575">
            <a:solidFill>
              <a:srgbClr val="1F3A5F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240280" y="5230368"/>
            <a:ext cx="2148840" cy="32004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5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跨域链路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40280" y="5669280"/>
            <a:ext cx="2148840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带宽低一个量级以上</a:t>
            </a:r>
          </a:p>
          <a:p>
            <a:pPr algn="ctr"/>
            <a:r>
              <a:rPr sz="7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时延毫秒级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2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Agentic AI：从“一问一答”到“长程、多轮、多体协作”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11457432" cy="566928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45720" tIns="27432" bIns="27432" wrap="square"/>
          <a:lstStyle/>
          <a:p>
            <a:pPr algn="ctr"/>
            <a:r>
              <a:rPr sz="13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核心判断：</a:t>
            </a:r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Agent 把一次调用变成持续数十分钟到数小时的会话，负载从“吞吐型”转向“状态型 + 交互型”。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9611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5760720" cy="4681728"/>
          </a:xfrm>
          <a:prstGeom prst="rect">
            <a:avLst/>
          </a:prstGeom>
          <a:solidFill>
            <a:srgbClr val="F4F6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664208"/>
            <a:ext cx="73152" cy="23774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27632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最显著的变化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56816"/>
            <a:ext cx="5468112" cy="1453895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多轮、长程任务：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数十到上百轮调用，上下文持续累积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工具调用与环境交互：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等待期间 GPU 需换出会话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多智能体协作：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规划、执行、校验并行，互传上下文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记忆分层：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KV cache、会话记忆、长期知识库并存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并发会话激增：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后台任务不受人类交互速度约束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447288"/>
            <a:ext cx="73152" cy="23774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10712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流量特征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739896"/>
            <a:ext cx="5468112" cy="81381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会话级 KV 复用：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每轮少量追加，历史前缀反复命中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换入换出频繁：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工具调用期间释放 HBM，返回后重载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东西向小消息：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Agent 与工具间 RPC，突发、不规则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4590288"/>
            <a:ext cx="73152" cy="237744"/>
          </a:xfrm>
          <a:prstGeom prst="rect">
            <a:avLst/>
          </a:prstGeom>
          <a:solidFill>
            <a:srgbClr val="3D8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553712"/>
            <a:ext cx="5303520" cy="310896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3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对网络的诉求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882896"/>
            <a:ext cx="5468112" cy="1426464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分布式 KV 内存池：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按前缀索引定位，命中后 RDMA 直读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快速换入换出：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恢复时间远小于重算时间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会话可迁移：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调度不被缓存位置“绑死”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混合流量 QoS：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交互、批量搬运、存储流量分级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轻量连接管理：</a:t>
            </a:r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海量会话下控制面不成为瓶颈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382512"/>
            <a:ext cx="11457432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27432" bIns="27432" wrap="square"/>
          <a:lstStyle/>
          <a:p>
            <a:pPr algn="ctr"/>
            <a:r>
              <a:rPr sz="105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共同结论：</a:t>
            </a: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三个方向都在把“状态”推到网络上，关键指标从集合通信带宽扩展为内存池级带宽、尾时延、拓扑感知与多类流量隔离。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691640"/>
            <a:ext cx="5486400" cy="27432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示意图：Agent 会话生命周期与 KV 换入换出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2084831"/>
            <a:ext cx="694944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19" name="Oval 18"/>
          <p:cNvSpPr/>
          <p:nvPr/>
        </p:nvSpPr>
        <p:spPr>
          <a:xfrm>
            <a:off x="1984248" y="2084831"/>
            <a:ext cx="694944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0" name="Oval 19"/>
          <p:cNvSpPr/>
          <p:nvPr/>
        </p:nvSpPr>
        <p:spPr>
          <a:xfrm>
            <a:off x="3218688" y="2084831"/>
            <a:ext cx="694944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44752" y="2313432"/>
            <a:ext cx="539496" cy="0"/>
          </a:xfrm>
          <a:prstGeom prst="line">
            <a:avLst/>
          </a:prstGeom>
          <a:ln w="15875">
            <a:solidFill>
              <a:srgbClr val="1F3A5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79192" y="2313432"/>
            <a:ext cx="539496" cy="0"/>
          </a:xfrm>
          <a:prstGeom prst="line">
            <a:avLst/>
          </a:prstGeom>
          <a:ln w="15875">
            <a:solidFill>
              <a:srgbClr val="1F3A5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34840" y="2057400"/>
            <a:ext cx="15087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工具 / 沙箱</a:t>
            </a:r>
          </a:p>
          <a:p>
            <a:pPr algn="ctr"/>
            <a:r>
              <a:rPr sz="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检索 / 浏览器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13632" y="2313432"/>
            <a:ext cx="521208" cy="0"/>
          </a:xfrm>
          <a:prstGeom prst="line">
            <a:avLst/>
          </a:prstGeom>
          <a:ln w="15875">
            <a:solidFill>
              <a:srgbClr val="7F7F7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2606040"/>
            <a:ext cx="52578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多智能体协作：东西向小消息 / RPC，突发、不规则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907792"/>
            <a:ext cx="27432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单个会话时间线（数十轮调用）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200400"/>
            <a:ext cx="86868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轮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09928" y="3200400"/>
            <a:ext cx="822959" cy="502920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88336" y="3200400"/>
            <a:ext cx="86868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轮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12464" y="3200400"/>
            <a:ext cx="822959" cy="502920"/>
          </a:xfrm>
          <a:prstGeom prst="rect">
            <a:avLst/>
          </a:prstGeom>
          <a:solidFill>
            <a:srgbClr val="D0D5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8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90872" y="3200400"/>
            <a:ext cx="868680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N 轮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3794760"/>
            <a:ext cx="5257800" cy="0"/>
          </a:xfrm>
          <a:prstGeom prst="line">
            <a:avLst/>
          </a:prstGeom>
          <a:ln w="15875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94960" y="3813048"/>
            <a:ext cx="548640" cy="1828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00" b="0">
                <a:solidFill>
                  <a:srgbClr val="7F7F7F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160520"/>
            <a:ext cx="5257800" cy="457200"/>
          </a:xfrm>
          <a:prstGeom prst="rect">
            <a:avLst/>
          </a:prstGeom>
          <a:solidFill>
            <a:srgbClr val="9DC3E6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160520"/>
            <a:ext cx="109728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GPU HBM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074920"/>
            <a:ext cx="52578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3D8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074920"/>
            <a:ext cx="2011680" cy="4572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DRAM / 远端 KV 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38528" y="4206240"/>
            <a:ext cx="0" cy="868680"/>
          </a:xfrm>
          <a:prstGeom prst="line">
            <a:avLst/>
          </a:prstGeom>
          <a:ln w="28575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554480" y="4663440"/>
            <a:ext cx="38404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换出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894076" y="4206240"/>
            <a:ext cx="0" cy="868680"/>
          </a:xfrm>
          <a:prstGeom prst="line">
            <a:avLst/>
          </a:prstGeom>
          <a:ln w="28575">
            <a:solidFill>
              <a:srgbClr val="3D8B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12364" y="4645152"/>
            <a:ext cx="566928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换入</a:t>
            </a:r>
          </a:p>
          <a:p>
            <a:pPr algn="l"/>
            <a:r>
              <a:rPr sz="7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前缀复用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941064" y="4206240"/>
            <a:ext cx="0" cy="868680"/>
          </a:xfrm>
          <a:prstGeom prst="line">
            <a:avLst/>
          </a:prstGeom>
          <a:ln w="28575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557016" y="4663440"/>
            <a:ext cx="384048" cy="36576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rPr>
              <a:t>换出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4896612" y="4206240"/>
            <a:ext cx="0" cy="868680"/>
          </a:xfrm>
          <a:prstGeom prst="line">
            <a:avLst/>
          </a:prstGeom>
          <a:ln w="28575">
            <a:solidFill>
              <a:srgbClr val="3D8B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14900" y="4645152"/>
            <a:ext cx="566928" cy="4114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7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换入</a:t>
            </a:r>
          </a:p>
          <a:p>
            <a:pPr algn="l"/>
            <a:r>
              <a:rPr sz="700" b="1">
                <a:solidFill>
                  <a:srgbClr val="3D8B37"/>
                </a:solidFill>
                <a:latin typeface="Microsoft YaHei"/>
                <a:ea typeface="Microsoft YaHei"/>
                <a:cs typeface="Microsoft YaHei"/>
              </a:rPr>
              <a:t>前缀复用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650992"/>
            <a:ext cx="2743200" cy="22860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/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会话迁移：上下文跨节点低成本搬移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5897880"/>
            <a:ext cx="12801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8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节点 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60" y="5897880"/>
            <a:ext cx="128016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square"/>
          <a:lstStyle/>
          <a:p>
            <a:pPr algn="ctr"/>
            <a:r>
              <a:rPr sz="8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节点 B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148840" y="6062472"/>
            <a:ext cx="233172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194560" y="5852160"/>
            <a:ext cx="2240280" cy="201168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ctr"/>
            <a:r>
              <a:rPr sz="7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会话 KV + 状态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